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65" r:id="rId5"/>
    <p:sldId id="258" r:id="rId6"/>
    <p:sldId id="269" r:id="rId7"/>
    <p:sldId id="259" r:id="rId8"/>
    <p:sldId id="260" r:id="rId9"/>
    <p:sldId id="261" r:id="rId10"/>
    <p:sldId id="262" r:id="rId11"/>
    <p:sldId id="266" r:id="rId12"/>
    <p:sldId id="267" r:id="rId13"/>
    <p:sldId id="270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67" d="100"/>
          <a:sy n="67" d="100"/>
        </p:scale>
        <p:origin x="14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BF6C7-7E16-4638-99C5-07BE51254C5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E3AE7-3F8D-436A-A683-1BB54B3938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318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8DBF6FC8-3C0C-4D9C-A196-D2820361571B}" type="datetime1">
              <a:rPr lang="en-US" smtClean="0"/>
              <a:t>11/21/2025</a:t>
            </a:fld>
            <a:endParaRPr lang="en-US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85BC-94A0-4C81-A5C9-D6865062615D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1B2FD-E6D6-4D43-ABC3-1A0E3983D750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D168-4C86-4542-A251-769574976854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AEFF-5053-4065-AE99-CEA7361F0EEC}" type="datetime1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9A0C-2C2E-4E77-8D39-2277779FDDCA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C8BE9-C77D-4726-823E-3D39E7E433D5}" type="datetime1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1E157-4918-4D0E-B08C-AC828A8D5BCC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383E-E126-4D64-BF1B-BF054FDD982C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812D6-77BA-4D2F-A3CE-E1610D7D0150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07B98-51D9-40EA-B817-CEEFECC06970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3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B64C0E24-D194-4ECE-B2A9-72C4C1745F32}" type="datetime1">
              <a:rPr lang="en-US" smtClean="0"/>
              <a:t>11/21/2025</a:t>
            </a:fld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dirty="0"/>
              <a:t>Terrestrial Microwave Link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8175" y="2822575"/>
            <a:ext cx="5545455" cy="2091055"/>
          </a:xfrm>
        </p:spPr>
        <p:txBody>
          <a:bodyPr>
            <a:normAutofit lnSpcReduction="10000"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RITU KUMARI</a:t>
            </a:r>
          </a:p>
          <a:p>
            <a:r>
              <a:rPr lang="en-US" sz="2400" dirty="0">
                <a:solidFill>
                  <a:schemeClr val="tx1"/>
                </a:solidFill>
              </a:rPr>
              <a:t>SACHIN THATAL</a:t>
            </a:r>
          </a:p>
          <a:p>
            <a:r>
              <a:rPr lang="en-US" sz="2400" dirty="0">
                <a:sym typeface="+mn-ea"/>
              </a:rPr>
              <a:t>SALIM SHRESTHA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SARSWOTI ROKAYA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21906-7477-30B8-596F-4045FED9E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Outline</a:t>
            </a:r>
            <a:endParaRPr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Terrestrial microwave links:</a:t>
            </a:r>
          </a:p>
          <a:p>
            <a:r>
              <a:rPr lang="en-US" dirty="0"/>
              <a:t>Block diagram</a:t>
            </a:r>
          </a:p>
          <a:p>
            <a:r>
              <a:rPr lang="en-US" dirty="0"/>
              <a:t>Working principle</a:t>
            </a:r>
          </a:p>
          <a:p>
            <a:r>
              <a:rPr lang="en-US" dirty="0"/>
              <a:t>Concept of Fresnel zone clearance</a:t>
            </a:r>
          </a:p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D848E-FAF5-E471-1473-6C04B908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81FB3-55B8-2E37-6CFB-4F19D6A99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8CDD3-3056-D29D-AC43-237970B5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What is a Terrestrial Microwave Link?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63A1F-46E3-8B66-23B1-CB4ED18D8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wireless communication system using microwave frequencies</a:t>
            </a:r>
          </a:p>
          <a:p>
            <a:r>
              <a:rPr dirty="0"/>
              <a:t>Uses line-of-sight (LOS) propagation</a:t>
            </a:r>
          </a:p>
          <a:p>
            <a:r>
              <a:rPr dirty="0"/>
              <a:t>Connects two fixed ground stations</a:t>
            </a:r>
          </a:p>
          <a:p>
            <a:r>
              <a:rPr dirty="0"/>
              <a:t>Operates typically in the 1–30 GHz frequency band</a:t>
            </a:r>
          </a:p>
          <a:p>
            <a:r>
              <a:rPr dirty="0"/>
              <a:t>Used to transmit high‑capacity voice, data, and video signals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B4AC9-4C07-2655-54C5-ADBE45DF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BLOCK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7DE89E-EDDF-D320-1931-1574940F8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362" y="2070576"/>
            <a:ext cx="5629275" cy="2124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0CE85-3FB0-D92E-9740-A441A136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Why Do We Need Terrestrial Microwave Links?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To establish reliable long-distance communication</a:t>
            </a:r>
          </a:p>
          <a:p>
            <a:r>
              <a:rPr sz="2800" dirty="0"/>
              <a:t>To provide backhaul connectivity for telecom networks</a:t>
            </a:r>
          </a:p>
          <a:p>
            <a:r>
              <a:rPr sz="2800" dirty="0"/>
              <a:t>Faster &amp; cheaper deployment compared to fiber</a:t>
            </a:r>
          </a:p>
          <a:p>
            <a:r>
              <a:rPr sz="2800" dirty="0"/>
              <a:t>Useful in remote or difficult terrains where cables are impractical</a:t>
            </a:r>
          </a:p>
          <a:p>
            <a:r>
              <a:rPr sz="2800" dirty="0"/>
              <a:t>Supports high-bandwidth requirements for modern networks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F0626-60CA-F13B-A877-CD9B42E6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09A12-10DE-B9BA-3CCE-0B3F49B52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F042BE8-AF59-7F4E-3F21-F37349986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410867"/>
            <a:ext cx="7886700" cy="150018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Your mobile phone connects to a nearby </a:t>
            </a:r>
            <a:r>
              <a:rPr lang="en-GB" b="1" dirty="0"/>
              <a:t>cell tower</a:t>
            </a:r>
            <a:r>
              <a:rPr lang="en-GB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Backhaul connectivity </a:t>
            </a:r>
            <a:r>
              <a:rPr lang="en-GB" dirty="0"/>
              <a:t>= the network that carries data from towers to the main telecom infrastructure.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5BAC2-5873-AA8B-EF1F-296E3DAE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6FDBC0-B9DC-136C-942D-40AB49CF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43" y="342901"/>
            <a:ext cx="8660457" cy="390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0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Telecom backbone transmission</a:t>
            </a:r>
          </a:p>
          <a:p>
            <a:r>
              <a:rPr sz="2800" dirty="0"/>
              <a:t>Internet Service Provider (ISP) backhaul links</a:t>
            </a:r>
          </a:p>
          <a:p>
            <a:r>
              <a:rPr sz="2800" dirty="0"/>
              <a:t>Broadcasting (TV, radio)</a:t>
            </a:r>
          </a:p>
          <a:p>
            <a:r>
              <a:rPr sz="2800" dirty="0"/>
              <a:t>Military and defense secure communication</a:t>
            </a:r>
          </a:p>
          <a:p>
            <a:r>
              <a:rPr sz="2800" dirty="0"/>
              <a:t>Emergency and disaster‑recovery communication</a:t>
            </a:r>
          </a:p>
          <a:p>
            <a:pPr marL="0" indent="0">
              <a:buNone/>
            </a:pPr>
            <a:endParaRPr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A6CC6-4B6E-A239-DE6A-4DAFE101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Merits (Advantages)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High bandwidth capability</a:t>
            </a:r>
          </a:p>
          <a:p>
            <a:r>
              <a:t>Quick installation and deployment</a:t>
            </a:r>
          </a:p>
          <a:p>
            <a:r>
              <a:t>Cost-effective over long distances</a:t>
            </a:r>
          </a:p>
          <a:p>
            <a:r>
              <a:t>Reliable and stable link quality</a:t>
            </a:r>
          </a:p>
          <a:p>
            <a:r>
              <a:t>Minimal maintenance required</a:t>
            </a:r>
          </a:p>
          <a:p>
            <a:r>
              <a:t>Flexible network planning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1C571-4FFF-BF8D-D4A8-B8AD82B9F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Demerits (Disadvantages)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Requires clear line-of-sight</a:t>
            </a:r>
          </a:p>
          <a:p>
            <a:r>
              <a:t>Signal susceptible to physical obstructions</a:t>
            </a:r>
          </a:p>
          <a:p>
            <a:r>
              <a:t>Performance affected by weather (rain, storms)</a:t>
            </a:r>
          </a:p>
          <a:p>
            <a:r>
              <a:t>Installation requires careful alignment</a:t>
            </a:r>
          </a:p>
          <a:p>
            <a:r>
              <a:t>Licensing may be expensive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9D599-7371-FAE7-5524-9D901965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Earth’s curvature restricts distance (usually 40–60 km per hop)</a:t>
            </a:r>
          </a:p>
          <a:p>
            <a:r>
              <a:t> Atmospheric absorption at higher frequencies</a:t>
            </a:r>
          </a:p>
          <a:p>
            <a:r>
              <a:t>Interference from nearby microwave systems</a:t>
            </a:r>
          </a:p>
          <a:p>
            <a:r>
              <a:t>Limited frequency spectrum availability</a:t>
            </a:r>
          </a:p>
          <a:p>
            <a:r>
              <a:t>Towers or elevated structures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896BF-A9E7-11C5-A9A9-856993922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 of Terrestrial Microwave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95360" cy="4525963"/>
          </a:xfrm>
        </p:spPr>
        <p:txBody>
          <a:bodyPr/>
          <a:lstStyle/>
          <a:p>
            <a:r>
              <a:rPr sz="2400" dirty="0"/>
              <a:t>Uses Line-of-Sight (LOS) microwave propagation between two stations</a:t>
            </a:r>
          </a:p>
          <a:p>
            <a:r>
              <a:rPr sz="2400" dirty="0"/>
              <a:t>Transmitter converts data into microwave signal and radiates it via antenna</a:t>
            </a:r>
          </a:p>
          <a:p>
            <a:r>
              <a:rPr sz="2400" dirty="0"/>
              <a:t>Signal travels through atmosphere with minimal attenuation</a:t>
            </a:r>
          </a:p>
          <a:p>
            <a:r>
              <a:rPr sz="2400" dirty="0"/>
              <a:t>Receiver antenna captures the signal and converts it back to electrical form</a:t>
            </a:r>
          </a:p>
          <a:p>
            <a:r>
              <a:rPr sz="2400" dirty="0"/>
              <a:t>Highly directional antennas ensure focused transmission with minimal interference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0E8A-5071-D057-715D-1C70557D9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of Fresnel Zone Clearance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Fresnel zones define elliptical regions around the LOS path</a:t>
            </a:r>
          </a:p>
          <a:p>
            <a:r>
              <a:rPr sz="2400" dirty="0"/>
              <a:t>Obstacles inside these zones cause diffraction and signal loss</a:t>
            </a:r>
          </a:p>
          <a:p>
            <a:r>
              <a:rPr sz="2400" dirty="0"/>
              <a:t> First Fresnel Zone must be at least 60% clear for optimal performance</a:t>
            </a:r>
          </a:p>
          <a:p>
            <a:r>
              <a:rPr sz="2400" dirty="0"/>
              <a:t> Larger link distances require greater clearance due to Earth curvature</a:t>
            </a:r>
          </a:p>
          <a:p>
            <a:r>
              <a:rPr sz="2400" dirty="0"/>
              <a:t> Ensuring Fresnel clearance reduces fading and increases link reliability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01B8-ADE7-4554-388B-D615736B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F5BB-E18F-A89C-3656-F6F924397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40262-949B-2330-8DBB-18E988530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4086225"/>
            <a:ext cx="3565099" cy="2159000"/>
          </a:xfrm>
        </p:spPr>
        <p:txBody>
          <a:bodyPr/>
          <a:lstStyle/>
          <a:p>
            <a:r>
              <a:rPr lang="en-GB" sz="2400" dirty="0"/>
              <a:t>A Fresnel zone is a series of concentric, elliptical regions of space between a transmitter and a receiver. </a:t>
            </a: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64F4C-1562-115E-B15C-276AFBEA1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1BC71B-E7FF-E0A1-F1FB-8494E3562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211930"/>
            <a:ext cx="4970202" cy="33258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6925CB-625D-8C44-B205-3AE5F6F9B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413" y="3768725"/>
            <a:ext cx="5364587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65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3785"/>
            <a:ext cx="8229600" cy="3782695"/>
          </a:xfrm>
        </p:spPr>
        <p:txBody>
          <a:bodyPr/>
          <a:lstStyle/>
          <a:p>
            <a:pPr marL="0" indent="0" algn="ctr">
              <a:buNone/>
            </a:pPr>
            <a:endParaRPr lang="en-US" sz="4000" b="1" dirty="0"/>
          </a:p>
          <a:p>
            <a:pPr marL="0" indent="0" algn="ctr">
              <a:buNone/>
            </a:pPr>
            <a:r>
              <a:rPr lang="en-US" sz="4000" b="1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FE46C-4E61-35A9-2F64-A428748C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408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Business Cooperate</vt:lpstr>
      <vt:lpstr>Terrestrial Microwave Link</vt:lpstr>
      <vt:lpstr>Outline</vt:lpstr>
      <vt:lpstr>What is a Terrestrial Microwave Link?</vt:lpstr>
      <vt:lpstr>BLOCK DIAGRAM </vt:lpstr>
      <vt:lpstr>Why Do We Need Terrestrial Microwave Links?</vt:lpstr>
      <vt:lpstr>PowerPoint Presentation</vt:lpstr>
      <vt:lpstr>Applications</vt:lpstr>
      <vt:lpstr>Merits (Advantages)</vt:lpstr>
      <vt:lpstr>Demerits (Disadvantages)</vt:lpstr>
      <vt:lpstr>Limitations</vt:lpstr>
      <vt:lpstr>Working Principle of Terrestrial Microwave Link</vt:lpstr>
      <vt:lpstr>Concept of Fresnel Zone Clearance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Salim Shrestha</cp:lastModifiedBy>
  <cp:revision>26</cp:revision>
  <dcterms:created xsi:type="dcterms:W3CDTF">2013-01-27T09:14:00Z</dcterms:created>
  <dcterms:modified xsi:type="dcterms:W3CDTF">2025-11-21T16:28:23Z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233BD319BB3F4F0AA2AF9070A58DE652_13</vt:lpwstr>
  </property>
  <property fmtid="{D5CDD505-2E9C-101B-9397-08002B2CF9AE}" pid="3" name="KSOProductBuildVer">
    <vt:lpwstr>1033-12.2.0.23155</vt:lpwstr>
  </property>
</Properties>
</file>