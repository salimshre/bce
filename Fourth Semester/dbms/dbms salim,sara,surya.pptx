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63" r:id="rId4"/>
    <p:sldId id="258" r:id="rId5"/>
    <p:sldId id="259" r:id="rId6"/>
    <p:sldId id="264" r:id="rId7"/>
    <p:sldId id="265" r:id="rId8"/>
    <p:sldId id="266" r:id="rId9"/>
    <p:sldId id="267" r:id="rId10"/>
    <p:sldId id="271" r:id="rId11"/>
    <p:sldId id="269" r:id="rId12"/>
    <p:sldId id="268" r:id="rId13"/>
    <p:sldId id="273" r:id="rId14"/>
    <p:sldId id="274" r:id="rId15"/>
    <p:sldId id="272" r:id="rId16"/>
    <p:sldId id="26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18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81966B-8866-4B4C-875C-C7F33FAD99AF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1E053-EC78-430E-A475-E1A5B64867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40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1E053-EC78-430E-A475-E1A5B648675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510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49C23C6-2CAE-4BA5-810F-93FC2223A50D}" type="datetime1">
              <a:rPr lang="en-US" smtClean="0"/>
              <a:t>11/4/2025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3371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F0BF9-1C12-4A2B-BD6F-7D1BB750A22F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17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EDA81-8462-410F-9BAB-153D36B9D921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9903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7DD42-95E7-4183-BFE3-EDB1EC9B016C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0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2CEFB-C25C-4E8F-BB0E-E3E0391DE57D}" type="datetime1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39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8B6C-2BB8-49DF-84B3-DE1BE94C4CC0}" type="datetime1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03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7B7D4-551E-4CA7-BDC0-F3229D44D578}" type="datetime1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52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9CEC-B23C-4CD7-9EA2-8685805328E7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43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06863-BBB1-48BD-A82B-0B03E4B3817A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862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DAB59-155F-4A05-8E4B-CA3D01332426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865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FF77C-7C67-4961-B0C5-25DA3F9E1FA0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656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BE230550-DBDB-4CF1-8B67-EE9BBC887664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49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Database Recovery: Backup and Dumping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Presented by: Salim Shrestha</a:t>
            </a:r>
            <a:r>
              <a:rPr lang="en-US" dirty="0"/>
              <a:t>,</a:t>
            </a:r>
            <a:r>
              <a:rPr dirty="0"/>
              <a:t> Saraswoti Rokaya</a:t>
            </a:r>
            <a:r>
              <a:rPr lang="en-US" dirty="0"/>
              <a:t> </a:t>
            </a:r>
            <a:r>
              <a:rPr lang="en-US"/>
              <a:t>&amp; Surya </a:t>
            </a:r>
            <a:r>
              <a:rPr lang="en-US" dirty="0" err="1"/>
              <a:t>yadav</a:t>
            </a:r>
            <a:endParaRPr dirty="0"/>
          </a:p>
          <a:p>
            <a:r>
              <a:rPr dirty="0"/>
              <a:t>Based on Chapter 10 – Recovery Section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4DBF6-C11B-202A-7D7E-37B70E8B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Database Backup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Types of Database Backup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Backup Techniques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Introduction to dumping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What is a dump file?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Importance of Dumping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Basic Example (Using phpMyAdmin -Web Interface)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Basic Example (MySQL)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Restoring the Database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Thank You / Conclusion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02022-6FB6-5CD6-A736-FE96DB752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68DC4-8EC5-F09F-A449-8A02FA8EC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3EC74-40F9-5024-036C-2FD07DB98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Database Backup?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D7C19-F8EE-EE49-48F1-87A664049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dirty="0"/>
              <a:t>Creating a copy of data to protect it from loss or system failure.</a:t>
            </a:r>
          </a:p>
          <a:p>
            <a:r>
              <a:rPr b="1" dirty="0"/>
              <a:t>Purpose: </a:t>
            </a:r>
            <a:r>
              <a:rPr dirty="0"/>
              <a:t>Safeguard data from hardware/software failure and recover after disasters.</a:t>
            </a:r>
          </a:p>
          <a:p>
            <a:r>
              <a:rPr b="1" dirty="0"/>
              <a:t>Managed by: </a:t>
            </a:r>
            <a:r>
              <a:rPr dirty="0"/>
              <a:t>Database Administrator (DBA).</a:t>
            </a:r>
          </a:p>
          <a:p>
            <a:r>
              <a:rPr b="1" dirty="0"/>
              <a:t>Stored in: </a:t>
            </a:r>
            <a:r>
              <a:rPr dirty="0"/>
              <a:t>Magnetic tapes, Hard disks, Flash drives, Remote servers.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CC886-6463-A028-2908-03F2D0C58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33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Database Backup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b="1" dirty="0"/>
              <a:t>Physical Backup: </a:t>
            </a:r>
            <a:r>
              <a:rPr dirty="0"/>
              <a:t>Copies actual physical files (datafiles, control files, redo logs).</a:t>
            </a:r>
          </a:p>
          <a:p>
            <a:r>
              <a:rPr dirty="0"/>
              <a:t>Provides detailed transaction info and is foundation for recovery.</a:t>
            </a:r>
          </a:p>
          <a:p>
            <a:r>
              <a:rPr b="1" dirty="0"/>
              <a:t>Logical Backup: </a:t>
            </a:r>
            <a:r>
              <a:rPr dirty="0"/>
              <a:t>Extracts logical data (tables, views, procedures, functions).</a:t>
            </a:r>
          </a:p>
          <a:p>
            <a:r>
              <a:rPr dirty="0"/>
              <a:t>Useful for restoring specific database objects.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F5150-4598-1AE4-FCBB-787F2EAF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pic>
        <p:nvPicPr>
          <p:cNvPr id="3074" name="Picture 2" descr="PostgreSQL - Backup Database - GeeksforGeeks">
            <a:extLst>
              <a:ext uri="{FF2B5EF4-FFF2-40B4-BE49-F238E27FC236}">
                <a16:creationId xmlns:a16="http://schemas.microsoft.com/office/drawing/2014/main" id="{978EE616-E8C0-E040-228F-E553D047F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046" y="5001058"/>
            <a:ext cx="4604004" cy="176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b="1" dirty="0"/>
              <a:t>Full Database Backup: </a:t>
            </a:r>
            <a:r>
              <a:rPr dirty="0"/>
              <a:t>Complete copy of the database including all data and transactions.</a:t>
            </a:r>
          </a:p>
          <a:p>
            <a:r>
              <a:rPr b="1" dirty="0"/>
              <a:t>Differential Backup: </a:t>
            </a:r>
            <a:r>
              <a:rPr dirty="0"/>
              <a:t>Copies only changes since the last full backup; smaller and faster.</a:t>
            </a:r>
          </a:p>
          <a:p>
            <a:r>
              <a:rPr b="1" dirty="0"/>
              <a:t>Transaction Log Backup: </a:t>
            </a:r>
            <a:r>
              <a:rPr dirty="0"/>
              <a:t>Saves only transaction logs; keeps backup small and efficient.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E1CF4-CC6A-037B-DC3F-7D72372F5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BC3B5-4F1C-0E0D-D6B2-368C3531F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85887-9BF0-AB68-6A61-E12871EE1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Dumping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F931A-6201-9893-44FA-192180DB9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Dumping in databases means copying or exporting the entire database (or part of it).</a:t>
            </a:r>
          </a:p>
          <a:p>
            <a:r>
              <a:rPr lang="en-GB" dirty="0"/>
              <a:t>The copied data is saved into a dump file for:</a:t>
            </a:r>
          </a:p>
          <a:p>
            <a:pPr lvl="2"/>
            <a:r>
              <a:rPr lang="en-GB" dirty="0"/>
              <a:t>Backup</a:t>
            </a:r>
          </a:p>
          <a:p>
            <a:pPr lvl="2"/>
            <a:r>
              <a:rPr lang="en-GB" dirty="0"/>
              <a:t>Transfer</a:t>
            </a:r>
          </a:p>
          <a:p>
            <a:pPr lvl="2"/>
            <a:r>
              <a:rPr lang="en-GB" dirty="0"/>
              <a:t>Recovery</a:t>
            </a:r>
          </a:p>
          <a:p>
            <a:r>
              <a:rPr lang="en-GB" dirty="0"/>
              <a:t>It’s an important part of database recovery and helps restore data if the system fails.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F4B72-FC16-0B0F-E903-7F29D567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82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FEEAA-55C7-384A-44E1-D00A52DC6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EF019-AA2E-3DB6-C7FA-82F78AAD8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Dump File?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5633D-A0AF-BF28-90F2-AA54E8A07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dump file contains:</a:t>
            </a:r>
          </a:p>
          <a:p>
            <a:pPr lvl="2"/>
            <a:r>
              <a:rPr lang="en-GB" dirty="0"/>
              <a:t>SQL commands</a:t>
            </a:r>
          </a:p>
          <a:p>
            <a:pPr lvl="2"/>
            <a:r>
              <a:rPr lang="en-GB" dirty="0"/>
              <a:t>Table structures</a:t>
            </a:r>
          </a:p>
          <a:p>
            <a:pPr lvl="2"/>
            <a:r>
              <a:rPr lang="en-GB" dirty="0"/>
              <a:t>Data records</a:t>
            </a:r>
          </a:p>
          <a:p>
            <a:pPr lvl="2"/>
            <a:r>
              <a:rPr lang="en-GB" dirty="0"/>
              <a:t>Database schema</a:t>
            </a:r>
          </a:p>
          <a:p>
            <a:r>
              <a:rPr lang="en-GB" dirty="0"/>
              <a:t>Purpose: To recreate the database if it is lost, damaged, or needs to be moved.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0AF42-2BB9-2D13-D008-806F37890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091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AA36B-1804-6E19-725F-B6AE4DE43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5D62B-29CC-0665-87A5-3847B7AE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Importance of Dumping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DE740-42B6-F64F-0526-6FB6273B2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Protects against data loss</a:t>
            </a:r>
          </a:p>
          <a:p>
            <a:r>
              <a:rPr lang="en-GB" dirty="0"/>
              <a:t>Makes database transfer easier</a:t>
            </a:r>
          </a:p>
          <a:p>
            <a:r>
              <a:rPr lang="en-GB" dirty="0"/>
              <a:t>Helps restore after corruption or crash</a:t>
            </a:r>
          </a:p>
          <a:p>
            <a:r>
              <a:rPr lang="en-GB" dirty="0"/>
              <a:t>Used by developers, DBAs, and backup systems</a:t>
            </a:r>
          </a:p>
          <a:p>
            <a:endParaRPr lang="en-GB" dirty="0"/>
          </a:p>
          <a:p>
            <a:r>
              <a:rPr lang="en-GB" dirty="0"/>
              <a:t> Ensures data safety and system reliability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DB977-908D-AD10-4EF5-4F293E623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919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71A10-AF1E-AC3D-6844-E8A5164A6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7AD32-2FAC-DABA-C9A2-9479CB94E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Example (Using phpMyAdmin -Web Interface)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FEB69-C9FF-A6A1-6F8C-F2BF86524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Start the Apache and MySQL services in your XAMPP Control Panel.</a:t>
            </a:r>
          </a:p>
          <a:p>
            <a:r>
              <a:rPr lang="en-GB" dirty="0"/>
              <a:t>Open your web browser and navigate to 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</a:rPr>
              <a:t>http://localhost/phpmyadmin.</a:t>
            </a:r>
          </a:p>
          <a:p>
            <a:r>
              <a:rPr lang="en-GB" dirty="0"/>
              <a:t>Select the specific database you want to dump from the list on the left sidebar.</a:t>
            </a:r>
          </a:p>
          <a:p>
            <a:r>
              <a:rPr lang="en-GB" dirty="0"/>
              <a:t>Click on the "</a:t>
            </a:r>
            <a:r>
              <a:rPr lang="en-GB" dirty="0">
                <a:highlight>
                  <a:srgbClr val="C0C0C0"/>
                </a:highlight>
              </a:rPr>
              <a:t>Export</a:t>
            </a:r>
            <a:r>
              <a:rPr lang="en-GB" dirty="0"/>
              <a:t>" tab in the top navigation bar.</a:t>
            </a:r>
          </a:p>
          <a:p>
            <a:r>
              <a:rPr lang="en-GB" dirty="0"/>
              <a:t>On the export page, select the "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</a:rPr>
              <a:t>Quick</a:t>
            </a:r>
            <a:r>
              <a:rPr lang="en-GB" dirty="0"/>
              <a:t>" export method (or "Custom" for more options) and ensure the format is set to "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</a:rPr>
              <a:t>SQL</a:t>
            </a:r>
            <a:r>
              <a:rPr lang="en-GB" dirty="0"/>
              <a:t>".</a:t>
            </a:r>
          </a:p>
          <a:p>
            <a:r>
              <a:rPr lang="en-GB" dirty="0"/>
              <a:t>Click the "Go" button to start the download of the </a:t>
            </a:r>
            <a:r>
              <a:rPr lang="en-GB" dirty="0">
                <a:highlight>
                  <a:srgbClr val="C0C0C0"/>
                </a:highlight>
              </a:rPr>
              <a:t>.</a:t>
            </a:r>
            <a:r>
              <a:rPr lang="en-GB" dirty="0" err="1">
                <a:highlight>
                  <a:srgbClr val="C0C0C0"/>
                </a:highlight>
              </a:rPr>
              <a:t>sql</a:t>
            </a:r>
            <a:r>
              <a:rPr lang="en-GB" dirty="0">
                <a:highlight>
                  <a:srgbClr val="C0C0C0"/>
                </a:highlight>
              </a:rPr>
              <a:t> </a:t>
            </a:r>
            <a:r>
              <a:rPr lang="en-GB" dirty="0"/>
              <a:t>file. 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3B898-D513-8A0C-E4C6-782164760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AAE06C0-1CBF-F9F5-4FDE-D01F6AA6D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73910"/>
            <a:ext cx="65" cy="547821"/>
          </a:xfrm>
          <a:prstGeom prst="rect">
            <a:avLst/>
          </a:prstGeom>
          <a:solidFill>
            <a:srgbClr val="2829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88872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158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DED80-7FF5-EE15-3763-D4CCE361A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A7733-D473-FF32-1EF3-C8F2F7760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Example (Using phpMyAdmin -Web Interface)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7542B04-73FA-111F-4691-C13E17DB54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401" y="1771653"/>
            <a:ext cx="8173380" cy="384521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185DE-6936-ADD0-AC88-5AE2BE9A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5D05507-AE03-277C-A75A-F0EDB19DA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73910"/>
            <a:ext cx="65" cy="547821"/>
          </a:xfrm>
          <a:prstGeom prst="rect">
            <a:avLst/>
          </a:prstGeom>
          <a:solidFill>
            <a:srgbClr val="2829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88872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52EB88-0675-E5E3-F208-9096069F7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5420629"/>
            <a:ext cx="4969764" cy="134529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44216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D9C66-C812-C376-D0BB-678B5CADA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7F17F-34A2-AA22-7344-DEFD80D0B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Example (Using Command MySQL)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B2AE8-E47A-E49D-2660-BA0021618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Suppose database name is </a:t>
            </a:r>
            <a:r>
              <a:rPr lang="en-GB" b="1" dirty="0" err="1"/>
              <a:t>school_db</a:t>
            </a:r>
            <a:endParaRPr lang="en-GB" b="1" dirty="0"/>
          </a:p>
          <a:p>
            <a:r>
              <a:rPr lang="en-GB" dirty="0"/>
              <a:t>To </a:t>
            </a:r>
            <a:r>
              <a:rPr lang="en-GB" b="1" dirty="0"/>
              <a:t>dump (export) </a:t>
            </a:r>
            <a:r>
              <a:rPr lang="en-GB" dirty="0"/>
              <a:t>the data:</a:t>
            </a:r>
          </a:p>
          <a:p>
            <a:r>
              <a:rPr lang="en-GB" dirty="0" err="1">
                <a:highlight>
                  <a:srgbClr val="C0C0C0"/>
                </a:highlight>
                <a:latin typeface="Consolas" panose="020B0609020204030204" pitchFamily="49" charset="0"/>
              </a:rPr>
              <a:t>mysqldump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</a:rPr>
              <a:t> -u root -p </a:t>
            </a:r>
            <a:r>
              <a:rPr lang="en-GB" dirty="0" err="1">
                <a:highlight>
                  <a:srgbClr val="C0C0C0"/>
                </a:highlight>
                <a:latin typeface="Consolas" panose="020B0609020204030204" pitchFamily="49" charset="0"/>
              </a:rPr>
              <a:t>school_db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</a:rPr>
              <a:t> &gt; </a:t>
            </a:r>
            <a:r>
              <a:rPr lang="en-GB" dirty="0" err="1">
                <a:highlight>
                  <a:srgbClr val="C0C0C0"/>
                </a:highlight>
                <a:latin typeface="Consolas" panose="020B0609020204030204" pitchFamily="49" charset="0"/>
              </a:rPr>
              <a:t>school_backup.sql</a:t>
            </a:r>
            <a:endParaRPr lang="en-GB" dirty="0"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/>
          </a:p>
          <a:p>
            <a:r>
              <a:rPr lang="en-GB" b="1" dirty="0"/>
              <a:t>Explanation:</a:t>
            </a:r>
          </a:p>
          <a:p>
            <a:r>
              <a:rPr lang="en-GB" dirty="0" err="1">
                <a:highlight>
                  <a:srgbClr val="C0C0C0"/>
                </a:highlight>
                <a:latin typeface="Consolas" panose="020B0609020204030204" pitchFamily="49" charset="0"/>
              </a:rPr>
              <a:t>mysqldump</a:t>
            </a:r>
            <a:r>
              <a:rPr lang="en-GB" dirty="0"/>
              <a:t> → tool used for dumping</a:t>
            </a:r>
          </a:p>
          <a:p>
            <a:r>
              <a:rPr lang="en-GB" dirty="0" err="1">
                <a:highlight>
                  <a:srgbClr val="C0C0C0"/>
                </a:highlight>
              </a:rPr>
              <a:t>school_db</a:t>
            </a:r>
            <a:r>
              <a:rPr lang="en-GB" dirty="0">
                <a:highlight>
                  <a:srgbClr val="C0C0C0"/>
                </a:highlight>
              </a:rPr>
              <a:t> </a:t>
            </a:r>
            <a:r>
              <a:rPr lang="en-GB" dirty="0"/>
              <a:t>→ database name</a:t>
            </a:r>
          </a:p>
          <a:p>
            <a:r>
              <a:rPr lang="en-GB" dirty="0" err="1">
                <a:highlight>
                  <a:srgbClr val="C0C0C0"/>
                </a:highlight>
              </a:rPr>
              <a:t>school_backup.sql</a:t>
            </a:r>
            <a:r>
              <a:rPr lang="en-GB" dirty="0">
                <a:highlight>
                  <a:srgbClr val="C0C0C0"/>
                </a:highlight>
              </a:rPr>
              <a:t> </a:t>
            </a:r>
            <a:r>
              <a:rPr lang="en-GB" dirty="0"/>
              <a:t>→ dump file storing SQL commands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D49D7-9404-EFB1-4B37-A9E3346E5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87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DD8D1-623F-60D9-529A-49C0BFAC3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1742B-80E5-D13D-FC37-D831EB5F7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Restoring the Database (</a:t>
            </a:r>
            <a:r>
              <a:rPr lang="en-GB" dirty="0" err="1"/>
              <a:t>phMyAdmin</a:t>
            </a:r>
            <a:r>
              <a:rPr lang="en-GB" dirty="0"/>
              <a:t> Interface)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08977-929E-FB1B-A1CA-66E0085EB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dirty="0"/>
              <a:t>Open phpMyAdmin: </a:t>
            </a:r>
            <a:r>
              <a:rPr lang="en-GB" dirty="0"/>
              <a:t>Access 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</a:rPr>
              <a:t>http://localhost/phpmyadmin in your browser</a:t>
            </a:r>
            <a:r>
              <a:rPr lang="en-GB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Create a New Database: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Go to the Import Tab: </a:t>
            </a:r>
            <a:r>
              <a:rPr lang="en-GB" dirty="0"/>
              <a:t>Select the newly created, empty database from the left pane, then click the "</a:t>
            </a:r>
            <a:r>
              <a:rPr lang="en-GB" b="1" dirty="0"/>
              <a:t>Import</a:t>
            </a:r>
            <a:r>
              <a:rPr lang="en-GB" dirty="0"/>
              <a:t>" tab in the top navigation bar.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Select the SQL File: </a:t>
            </a:r>
            <a:r>
              <a:rPr lang="en-GB" dirty="0"/>
              <a:t>Click the "</a:t>
            </a:r>
            <a:r>
              <a:rPr lang="en-GB" b="1" dirty="0"/>
              <a:t>Browse...</a:t>
            </a:r>
            <a:r>
              <a:rPr lang="en-GB" dirty="0"/>
              <a:t>" or "</a:t>
            </a:r>
            <a:r>
              <a:rPr lang="en-GB" b="1" dirty="0"/>
              <a:t>Choose File</a:t>
            </a:r>
            <a:r>
              <a:rPr lang="en-GB" dirty="0"/>
              <a:t>" button and select the .</a:t>
            </a:r>
            <a:r>
              <a:rPr lang="en-GB" dirty="0" err="1"/>
              <a:t>sql</a:t>
            </a:r>
            <a:r>
              <a:rPr lang="en-GB" dirty="0"/>
              <a:t> backup file you saved earlier.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Start Import: </a:t>
            </a:r>
            <a:r>
              <a:rPr lang="en-GB" dirty="0"/>
              <a:t>Scroll down and click "</a:t>
            </a:r>
            <a:r>
              <a:rPr lang="en-GB" b="1" dirty="0"/>
              <a:t>Go</a:t>
            </a:r>
            <a:r>
              <a:rPr lang="en-GB" dirty="0"/>
              <a:t>" to start the import process. Once complete, you will see a success message and the tables will appear in the left pane. 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7A2B7-0007-62F7-4BD2-B35359937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4242941-A74F-BE26-080F-A218EBCDF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73910"/>
            <a:ext cx="65" cy="547821"/>
          </a:xfrm>
          <a:prstGeom prst="rect">
            <a:avLst/>
          </a:prstGeom>
          <a:solidFill>
            <a:srgbClr val="2829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88872" rIns="0" bIns="17933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767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8945D-BE5F-F3F1-5F9B-1767FD8C5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09D46-44A8-4034-5035-5DDA19B7A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Restoring the Database (</a:t>
            </a:r>
            <a:r>
              <a:rPr lang="en-GB" dirty="0" err="1"/>
              <a:t>phMyAdmin</a:t>
            </a:r>
            <a:r>
              <a:rPr lang="en-GB" dirty="0"/>
              <a:t> Interface)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2A056-2DF6-3EEE-091B-FAF84EB5D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A337389-00D2-E8D7-4628-D74009C93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73910"/>
            <a:ext cx="65" cy="547821"/>
          </a:xfrm>
          <a:prstGeom prst="rect">
            <a:avLst/>
          </a:prstGeom>
          <a:solidFill>
            <a:srgbClr val="2829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88872" rIns="0" bIns="17933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638F08-3FBB-5CF9-FAC0-734A3F1F7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59" y="1731926"/>
            <a:ext cx="8458200" cy="454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227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4313C-6E2D-247E-B70D-8287D6797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ADC22-843A-2A0C-9837-BBD74A15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Restoring the Database (</a:t>
            </a:r>
            <a:r>
              <a:rPr lang="en-GB" dirty="0" err="1"/>
              <a:t>phMyAdmin</a:t>
            </a:r>
            <a:r>
              <a:rPr lang="en-GB" dirty="0"/>
              <a:t> Interface)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CCA0A56-A972-6239-17FA-F15E727EB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9054" y="1969928"/>
            <a:ext cx="7688547" cy="320786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D8E02-FB72-0E26-0F1D-880605126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BF2F362-95E5-3B2B-AF6C-F7DA6E3DC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73910"/>
            <a:ext cx="65" cy="547821"/>
          </a:xfrm>
          <a:prstGeom prst="rect">
            <a:avLst/>
          </a:prstGeom>
          <a:solidFill>
            <a:srgbClr val="2829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88872" rIns="0" bIns="17933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612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1E28F-9516-3CFA-E2B3-2E7EF871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BA9FD-E2C3-063D-E5FC-D9C9DF81B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Restoring the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900B3-F33A-F3F7-7E73-9C49675D3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To restore the same data later:</a:t>
            </a:r>
          </a:p>
          <a:p>
            <a:r>
              <a:rPr lang="en-GB" dirty="0" err="1">
                <a:highlight>
                  <a:srgbClr val="C0C0C0"/>
                </a:highlight>
                <a:latin typeface="Consolas" panose="020B0609020204030204" pitchFamily="49" charset="0"/>
              </a:rPr>
              <a:t>mysql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</a:rPr>
              <a:t> -u root -p </a:t>
            </a:r>
            <a:r>
              <a:rPr lang="en-GB" dirty="0" err="1">
                <a:highlight>
                  <a:srgbClr val="C0C0C0"/>
                </a:highlight>
                <a:latin typeface="Consolas" panose="020B0609020204030204" pitchFamily="49" charset="0"/>
              </a:rPr>
              <a:t>school_db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</a:rPr>
              <a:t> &lt; </a:t>
            </a:r>
            <a:r>
              <a:rPr lang="en-GB" dirty="0" err="1">
                <a:highlight>
                  <a:srgbClr val="C0C0C0"/>
                </a:highlight>
                <a:latin typeface="Consolas" panose="020B0609020204030204" pitchFamily="49" charset="0"/>
              </a:rPr>
              <a:t>school_backup.sql</a:t>
            </a:r>
            <a:endParaRPr lang="en-GB" dirty="0"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endParaRPr lang="en-GB" dirty="0"/>
          </a:p>
          <a:p>
            <a:r>
              <a:rPr lang="en-GB" b="1" dirty="0"/>
              <a:t>Explanation:</a:t>
            </a:r>
            <a:endParaRPr lang="en-GB" dirty="0"/>
          </a:p>
          <a:p>
            <a:r>
              <a:rPr lang="en-GB" dirty="0"/>
              <a:t>Loads all tables and data back into the database.</a:t>
            </a:r>
          </a:p>
          <a:p>
            <a:r>
              <a:rPr lang="en-GB" dirty="0"/>
              <a:t>Used after data loss or when transferring data to another server.</a:t>
            </a:r>
          </a:p>
          <a:p>
            <a:endParaRPr lang="en-GB" dirty="0"/>
          </a:p>
          <a:p>
            <a:r>
              <a:rPr lang="en-GB" dirty="0"/>
              <a:t>Dumping = Save it.</a:t>
            </a:r>
          </a:p>
          <a:p>
            <a:r>
              <a:rPr lang="en-GB" dirty="0"/>
              <a:t>Restoring = Bring it back.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64EB4-F0D5-F25A-D6A0-DC568ED5E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593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Presented by:</a:t>
            </a:r>
          </a:p>
          <a:p>
            <a:r>
              <a:rPr dirty="0"/>
              <a:t>Salim Shrestha</a:t>
            </a:r>
          </a:p>
          <a:p>
            <a:r>
              <a:rPr dirty="0"/>
              <a:t>Saraswoti Rokaya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17484-84FF-2F6B-5DBE-5B9E7DC96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116</TotalTime>
  <Words>742</Words>
  <Application>Microsoft Office PowerPoint</Application>
  <PresentationFormat>On-screen Show (4:3)</PresentationFormat>
  <Paragraphs>110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Century Schoolbook</vt:lpstr>
      <vt:lpstr>Consolas</vt:lpstr>
      <vt:lpstr>Wingdings 2</vt:lpstr>
      <vt:lpstr>View</vt:lpstr>
      <vt:lpstr>Database Recovery: Backup and Dumping</vt:lpstr>
      <vt:lpstr>Outline</vt:lpstr>
      <vt:lpstr>What is Database Backup?</vt:lpstr>
      <vt:lpstr>Types of Database Backup</vt:lpstr>
      <vt:lpstr>Backup Techniques</vt:lpstr>
      <vt:lpstr>Introduction to Dumping</vt:lpstr>
      <vt:lpstr>What is a Dump File?</vt:lpstr>
      <vt:lpstr>Importance of Dumping</vt:lpstr>
      <vt:lpstr>Basic Example (Using phpMyAdmin -Web Interface)</vt:lpstr>
      <vt:lpstr>Basic Example (Using phpMyAdmin -Web Interface)</vt:lpstr>
      <vt:lpstr>Basic Example (Using Command MySQL)</vt:lpstr>
      <vt:lpstr>Restoring the Database (phMyAdmin Interface)</vt:lpstr>
      <vt:lpstr>Restoring the Database (phMyAdmin Interface)</vt:lpstr>
      <vt:lpstr>Restoring the Database (phMyAdmin Interface)</vt:lpstr>
      <vt:lpstr>Restoring the Database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Salim Shrestha</cp:lastModifiedBy>
  <cp:revision>25</cp:revision>
  <dcterms:created xsi:type="dcterms:W3CDTF">2013-01-27T09:14:16Z</dcterms:created>
  <dcterms:modified xsi:type="dcterms:W3CDTF">2025-11-04T14:23:53Z</dcterms:modified>
  <cp:category/>
</cp:coreProperties>
</file>